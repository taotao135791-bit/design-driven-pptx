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UAC</c:v>
                </c:pt>
                <c:pt idx="1">
                  <c:v>Search</c:v>
                </c:pt>
                <c:pt idx="2">
                  <c:v>YouTube</c:v>
                </c:pt>
                <c:pt idx="3">
                  <c:v>Display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</c:v>
                </c:pt>
                <c:pt idx="1">
                  <c:v>30.0</c:v>
                </c:pt>
                <c:pt idx="2">
                  <c:v>16.0</c:v>
                </c:pt>
                <c:pt idx="3">
                  <c:v>8.0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5000.0</c:v>
                </c:pt>
                <c:pt idx="1">
                  <c:v>15000.0</c:v>
                </c:pt>
                <c:pt idx="2">
                  <c:v>32000.0</c:v>
                </c:pt>
                <c:pt idx="3">
                  <c:v>50000.0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Competitor A</c:v>
                </c:pt>
                <c:pt idx="1">
                  <c:v>Competitor B</c:v>
                </c:pt>
                <c:pt idx="2">
                  <c:v>Our Product</c:v>
                </c:pt>
                <c:pt idx="3">
                  <c:v>Industry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45.0</c:v>
                </c:pt>
                <c:pt idx="1">
                  <c:v>30.0</c:v>
                </c:pt>
                <c:pt idx="2">
                  <c:v>85.0</c:v>
                </c:pt>
                <c:pt idx="3">
                  <c:v>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905000"/>
            <a:ext cx="76200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7200">
                <a:solidFill>
                  <a:srgbClr val="1A1A1A"/>
                </a:solidFill>
                <a:latin typeface="Bebas Neue"/>
              </a:rPr>
              <a:t>COMPREHENSIVE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• UAC $80K（60%）
• Search $30K（22%）
• YouTube $16K（12%）
• Display $8K（6%）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77000" y="1428750"/>
          <a:ext cx="5143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Q1: 5000
Q2: 15000
Q3: 32000
Q4: 50000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1500" y="3048000"/>
          <a:ext cx="110490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Competitor A: 45%
Competitor B: 30%
Our Product: 85%
Industry Avg: 50%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77000" y="1143000"/>
          <a:ext cx="5143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24225" y="1905000"/>
            <a:ext cx="19050" cy="3810000"/>
          </a:xfrm>
          <a:prstGeom prst="rect">
            <a:avLst/>
          </a:prstGeom>
          <a:solidFill>
            <a:srgbClr val="E85D5D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762000"/>
            <a:ext cx="57150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Step 1: Launch MVP
Step 2: Seed funding
Step 3: Product-market fit
Step 4: Scale to enterprise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238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Launch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3048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3381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Seed funding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91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524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Product-market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0" y="5334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0" y="5667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Scale to enterprise</a:t>
            </a:r>
          </a:p>
        </p:txBody>
      </p:sp>
      <p:sp>
        <p:nvSpPr>
          <p:cNvPr id="12" name="Oval 11"/>
          <p:cNvSpPr/>
          <p:nvPr/>
        </p:nvSpPr>
        <p:spPr>
          <a:xfrm>
            <a:off x="3238500" y="2095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38500" y="3238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38500" y="4381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38500" y="5524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