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0"/>
            <a:ext cx="19050" cy="6858000"/>
          </a:xfrm>
          <a:prstGeom prst="rect">
            <a:avLst/>
          </a:prstGeom>
          <a:solidFill>
            <a:srgbClr val="D4CFB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24000" y="1905000"/>
            <a:ext cx="9144000" cy="762000"/>
          </a:xfrm>
          <a:prstGeom prst="rect">
            <a:avLst/>
          </a:prstGeom>
          <a:noFill/>
        </p:spPr>
        <p:txBody>
          <a:bodyPr wrap="square"/>
          <a:lstStyle/>
          <a:p>
            <a:pPr algn="l"/>
            <a:r>
              <a:rPr b="0" i="0"/>
              <a:t>Design-Driven PPTX</a:t>
            </a:r>
          </a:p>
          <a:p>
            <a:pPr algn="l"/>
          </a:p>
        </p:txBody>
      </p:sp>
      <p:sp>
        <p:nvSpPr>
          <p:cNvPr id="5" name="TextBox 4"/>
          <p:cNvSpPr txBox="1"/>
          <p:nvPr/>
        </p:nvSpPr>
        <p:spPr>
          <a:xfrm>
            <a:off x="1524000" y="2857500"/>
            <a:ext cx="9144000" cy="381000"/>
          </a:xfrm>
          <a:prstGeom prst="rect">
            <a:avLst/>
          </a:prstGeom>
          <a:noFill/>
        </p:spPr>
        <p:txBody>
          <a:bodyPr wrap="square"/>
          <a:lstStyle/>
          <a:p>
            <a:pPr algn="l"/>
            <a:r>
              <a:rPr b="0" i="0"/>
              <a:t>COMPREHENSIVE TEST DEMONSTRATION</a:t>
            </a:r>
          </a:p>
          <a:p>
            <a:pPr algn="l"/>
          </a:p>
        </p:txBody>
      </p:sp>
      <p:sp>
        <p:nvSpPr>
          <p:cNvPr id="6" name="TextBox 5"/>
          <p:cNvSpPr txBox="1"/>
          <p:nvPr/>
        </p:nvSpPr>
        <p:spPr>
          <a:xfrm>
            <a:off x="1524000" y="3810000"/>
            <a:ext cx="5715000" cy="762000"/>
          </a:xfrm>
          <a:prstGeom prst="rect">
            <a:avLst/>
          </a:prstGeom>
          <a:noFill/>
        </p:spPr>
        <p:txBody>
          <a:bodyPr wrap="square"/>
          <a:lstStyle/>
          <a:p>
            <a:pPr algn="l"/>
            <a:r>
              <a:rPr b="0" i="0"/>
              <a:t>Testing charts, tables, timelines, shapes, animations, and rich text rendering across the full pipeline.</a:t>
            </a:r>
          </a:p>
          <a:p>
            <a:pPr algn="l"/>
          </a:p>
        </p:txBody>
      </p:sp>
      <p:sp>
        <p:nvSpPr>
          <p:cNvPr id="7" name="TextBox 6"/>
          <p:cNvSpPr txBox="1"/>
          <p:nvPr/>
        </p:nvSpPr>
        <p:spPr>
          <a:xfrm>
            <a:off x="1524000" y="5715000"/>
            <a:ext cx="3810000" cy="285750"/>
          </a:xfrm>
          <a:prstGeom prst="rect">
            <a:avLst/>
          </a:prstGeom>
          <a:noFill/>
        </p:spPr>
        <p:txBody>
          <a:bodyPr wrap="square"/>
          <a:lstStyle/>
          <a:p>
            <a:pPr algn="l"/>
            <a:r>
              <a:rPr b="0" i="0"/>
              <a:t>June 2026 · Grove Style</a:t>
            </a:r>
          </a:p>
          <a:p>
            <a:pPr algn="l"/>
          </a:p>
        </p:txBody>
      </p:sp>
      <p:sp>
        <p:nvSpPr>
          <p:cNvPr id="15" name="Rectangle 14"/>
          <p:cNvSpPr/>
          <p:nvPr/>
        </p:nvSpPr>
        <p:spPr>
          <a:xfrm>
            <a:off x="1524000" y="3524249"/>
            <a:ext cx="571500" cy="19050"/>
          </a:xfrm>
          <a:prstGeom prst="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1" dur="indefinite" restart="never" nodeType="tmRoot">
          <p:childTnLst>
            <p:seq concurrent="1" nextAc="seek">
              <p:cTn id="12" dur="indefinite" nodeType="mainSeq">
                <p:childTnLst>
                  <p:par>
                    <p:cTn id="13" fill="hold" nodeType="clickEffect">
                      <p:stCondLst>
                        <p:cond delay="indefinite"/>
                      </p:stCondLst>
                      <p:childTnLst>
                        <p:animEffect transition="in" filter="fade" dur="600">
                          <p:cBhvr>
                            <p:cTn id="14" dur="600" fill="hold"/>
                            <p:tgtEl>
                              <p:spTgt spid="7"/>
                            </p:tgtEl>
                          </p:cBhvr>
                        </p:animEffect>
                      </p:childTnLst>
                    </p:cTn>
                  </p:par>
                </p:childTnLst>
              </p:cTn>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0" y="1714500"/>
            <a:ext cx="4191000" cy="3429000"/>
          </a:xfrm>
          <a:prstGeom prst="rect">
            <a:avLst/>
          </a:prstGeom>
          <a:solidFill>
            <a:srgbClr val="1E3221"/>
          </a:solidFill>
          <a:ln w="12700">
            <a:solidFill>
              <a:srgbClr val="D4C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762000"/>
            <a:ext cx="3810000" cy="381000"/>
          </a:xfrm>
          <a:prstGeom prst="rect">
            <a:avLst/>
          </a:prstGeom>
          <a:noFill/>
        </p:spPr>
        <p:txBody>
          <a:bodyPr wrap="square"/>
          <a:lstStyle/>
          <a:p>
            <a:pPr algn="l"/>
            <a:r>
              <a:rPr b="0" i="0"/>
              <a:t>CONTENTS</a:t>
            </a:r>
          </a:p>
          <a:p>
            <a:pPr algn="l"/>
          </a:p>
        </p:txBody>
      </p:sp>
      <p:sp>
        <p:nvSpPr>
          <p:cNvPr id="5" name="TextBox 4"/>
          <p:cNvSpPr txBox="1"/>
          <p:nvPr/>
        </p:nvSpPr>
        <p:spPr>
          <a:xfrm>
            <a:off x="1143000" y="1333500"/>
            <a:ext cx="5715000" cy="571500"/>
          </a:xfrm>
          <a:prstGeom prst="rect">
            <a:avLst/>
          </a:prstGeom>
          <a:noFill/>
        </p:spPr>
        <p:txBody>
          <a:bodyPr wrap="square"/>
          <a:lstStyle/>
          <a:p>
            <a:pPr algn="l"/>
            <a:r>
              <a:rPr b="0" i="0"/>
              <a:t>What We Will Cover</a:t>
            </a:r>
          </a:p>
          <a:p>
            <a:pPr algn="l"/>
          </a:p>
        </p:txBody>
      </p:sp>
      <p:sp>
        <p:nvSpPr>
          <p:cNvPr id="6" name="TextBox 5"/>
          <p:cNvSpPr txBox="1"/>
          <p:nvPr/>
        </p:nvSpPr>
        <p:spPr>
          <a:xfrm>
            <a:off x="1143000" y="2476500"/>
            <a:ext cx="4762500" cy="381000"/>
          </a:xfrm>
          <a:prstGeom prst="rect">
            <a:avLst/>
          </a:prstGeom>
          <a:noFill/>
        </p:spPr>
        <p:txBody>
          <a:bodyPr wrap="square"/>
          <a:lstStyle/>
          <a:p>
            <a:pPr algn="l"/>
            <a:r>
              <a:rPr b="0" i="0">
                <a:solidFill>
                  <a:srgbClr val="C8524A"/>
                </a:solidFill>
              </a:rPr>
              <a:t>01</a:t>
            </a:r>
            <a:r>
              <a:rPr b="0" i="0"/>
              <a:t>   Data Visualization</a:t>
            </a:r>
          </a:p>
          <a:p>
            <a:pPr algn="l"/>
          </a:p>
        </p:txBody>
      </p:sp>
      <p:sp>
        <p:nvSpPr>
          <p:cNvPr id="7" name="TextBox 6"/>
          <p:cNvSpPr txBox="1"/>
          <p:nvPr/>
        </p:nvSpPr>
        <p:spPr>
          <a:xfrm>
            <a:off x="1143000" y="3048000"/>
            <a:ext cx="4762500" cy="381000"/>
          </a:xfrm>
          <a:prstGeom prst="rect">
            <a:avLst/>
          </a:prstGeom>
          <a:noFill/>
        </p:spPr>
        <p:txBody>
          <a:bodyPr wrap="square"/>
          <a:lstStyle/>
          <a:p>
            <a:pPr algn="l"/>
            <a:r>
              <a:rPr b="0" i="0">
                <a:solidFill>
                  <a:srgbClr val="C8524A"/>
                </a:solidFill>
              </a:rPr>
              <a:t>02</a:t>
            </a:r>
            <a:r>
              <a:rPr b="0" i="0"/>
              <a:t>   Analytics Table</a:t>
            </a:r>
          </a:p>
          <a:p>
            <a:pPr algn="l"/>
          </a:p>
        </p:txBody>
      </p:sp>
      <p:sp>
        <p:nvSpPr>
          <p:cNvPr id="8" name="TextBox 7"/>
          <p:cNvSpPr txBox="1"/>
          <p:nvPr/>
        </p:nvSpPr>
        <p:spPr>
          <a:xfrm>
            <a:off x="1143000" y="3619500"/>
            <a:ext cx="4762500" cy="381000"/>
          </a:xfrm>
          <a:prstGeom prst="rect">
            <a:avLst/>
          </a:prstGeom>
          <a:noFill/>
        </p:spPr>
        <p:txBody>
          <a:bodyPr wrap="square"/>
          <a:lstStyle/>
          <a:p>
            <a:pPr algn="l"/>
            <a:r>
              <a:rPr b="0" i="0">
                <a:solidFill>
                  <a:srgbClr val="C8524A"/>
                </a:solidFill>
              </a:rPr>
              <a:t>03</a:t>
            </a:r>
            <a:r>
              <a:rPr b="0" i="0"/>
              <a:t>   Project Timeline</a:t>
            </a:r>
          </a:p>
          <a:p>
            <a:pPr algn="l"/>
          </a:p>
        </p:txBody>
      </p:sp>
      <p:sp>
        <p:nvSpPr>
          <p:cNvPr id="9" name="TextBox 8"/>
          <p:cNvSpPr txBox="1"/>
          <p:nvPr/>
        </p:nvSpPr>
        <p:spPr>
          <a:xfrm>
            <a:off x="1143000" y="4191000"/>
            <a:ext cx="4762500" cy="381000"/>
          </a:xfrm>
          <a:prstGeom prst="rect">
            <a:avLst/>
          </a:prstGeom>
          <a:noFill/>
        </p:spPr>
        <p:txBody>
          <a:bodyPr wrap="square"/>
          <a:lstStyle/>
          <a:p>
            <a:pPr algn="l"/>
            <a:r>
              <a:rPr b="0" i="0">
                <a:solidFill>
                  <a:srgbClr val="C8524A"/>
                </a:solidFill>
              </a:rPr>
              <a:t>04</a:t>
            </a:r>
            <a:r>
              <a:rPr b="0" i="0"/>
              <a:t>   Conclusion</a:t>
            </a:r>
          </a:p>
          <a:p>
            <a:pPr algn="l"/>
          </a:p>
        </p:txBody>
      </p:sp>
      <p:sp>
        <p:nvSpPr>
          <p:cNvPr id="10" name="TextBox 9"/>
          <p:cNvSpPr txBox="1"/>
          <p:nvPr/>
        </p:nvSpPr>
        <p:spPr>
          <a:xfrm>
            <a:off x="7239000" y="2095500"/>
            <a:ext cx="3429000" cy="2667000"/>
          </a:xfrm>
          <a:prstGeom prst="rect">
            <a:avLst/>
          </a:prstGeom>
          <a:noFill/>
        </p:spPr>
        <p:txBody>
          <a:bodyPr wrap="square"/>
          <a:lstStyle/>
          <a:p>
            <a:pPr algn="l"/>
            <a:r>
              <a:rPr b="0" i="0"/>
              <a:t>This demo tests the complete conversion pipeline including:</a:t>
            </a:r>
          </a:p>
          <a:p>
            <a:pPr algn="l"/>
          </a:p>
          <a:p>
            <a:pPr algn="l"/>
            <a:r>
              <a:rPr b="0" i="0"/>
              <a:t>  </a:t>
            </a:r>
            <a:r>
              <a:rPr b="0" i="0"/>
              <a:t>Bar &amp; line charts with series styles</a:t>
            </a:r>
          </a:p>
          <a:p>
            <a:pPr algn="l"/>
            <a:r>
              <a:rPr b="0" i="0"/>
              <a:t>  </a:t>
            </a:r>
            <a:r>
              <a:rPr b="0" i="0"/>
              <a:t>Formatted data tables</a:t>
            </a:r>
          </a:p>
          <a:p>
            <a:pPr algn="l"/>
            <a:r>
              <a:rPr b="0" i="0"/>
              <a:t>  </a:t>
            </a:r>
            <a:r>
              <a:rPr b="0" i="0"/>
              <a:t>Timeline with step nodes</a:t>
            </a:r>
          </a:p>
          <a:p>
            <a:pPr algn="l"/>
            <a:r>
              <a:rPr b="0" i="0"/>
              <a:t>  </a:t>
            </a:r>
            <a:r>
              <a:rPr b="0" i="0"/>
              <a:t>Freeform shapes &amp; decorations</a:t>
            </a:r>
          </a:p>
          <a:p>
            <a:pPr algn="l"/>
            <a:r>
              <a:rPr b="0" i="0"/>
              <a:t>  </a:t>
            </a:r>
            <a:r>
              <a:rPr b="0" i="0"/>
              <a:t>Animations &amp; transitions</a:t>
            </a:r>
          </a:p>
          <a:p>
            <a:pPr algn="l"/>
          </a:p>
          <a:p>
            <a:pPr algn="l"/>
          </a:p>
        </p:txBody>
      </p:sp>
      <p:sp>
        <p:nvSpPr>
          <p:cNvPr id="15" name="Rectangle 14"/>
          <p:cNvSpPr/>
          <p:nvPr/>
        </p:nvSpPr>
        <p:spPr>
          <a:xfrm>
            <a:off x="1143000" y="2190750"/>
            <a:ext cx="4762500" cy="19050"/>
          </a:xfrm>
          <a:prstGeom prst="rect">
            <a:avLst/>
          </a:prstGeom>
          <a:solidFill>
            <a:srgbClr val="D4CFB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1" dur="indefinite" restart="never" nodeType="tmRoot">
          <p:childTnLst>
            <p:seq concurrent="1" nextAc="seek">
              <p:cTn id="12" dur="indefinite" nodeType="mainSeq">
                <p:childTnLst>
                  <p:par>
                    <p:cTn id="13" fill="hold" nodeType="clickEffect">
                      <p:stCondLst>
                        <p:cond delay="indefinite"/>
                      </p:stCondLst>
                      <p:childTnLst>
                        <p:animEffect transition="in" filter="flyIn(right)" dur="500">
                          <p:cBhvr>
                            <p:cTn id="14" dur="500" fill="hold"/>
                            <p:tgtEl>
                              <p:spTgt spid="10"/>
                            </p:tgtEl>
                          </p:cBhvr>
                        </p:animEffect>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E322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0" cy="6858000"/>
          </a:xfrm>
          <a:prstGeom prst="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77500" y="5524500"/>
            <a:ext cx="762000" cy="762000"/>
          </a:xfrm>
          <a:prstGeom prst="ellipse">
            <a:avLst/>
          </a:prstGeom>
          <a:solidFill>
            <a:srgbClr val="243A28">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1905000"/>
            <a:ext cx="3048000" cy="952500"/>
          </a:xfrm>
          <a:prstGeom prst="rect">
            <a:avLst/>
          </a:prstGeom>
          <a:noFill/>
        </p:spPr>
        <p:txBody>
          <a:bodyPr wrap="square"/>
          <a:lstStyle/>
          <a:p>
            <a:pPr algn="l"/>
            <a:r>
              <a:rPr b="0" i="0">
                <a:solidFill>
                  <a:srgbClr val="E8E4D6"/>
                </a:solidFill>
              </a:rPr>
              <a:t>01</a:t>
            </a:r>
          </a:p>
          <a:p>
            <a:pPr algn="l"/>
          </a:p>
        </p:txBody>
      </p:sp>
      <p:sp>
        <p:nvSpPr>
          <p:cNvPr id="16" name="TextBox 15"/>
          <p:cNvSpPr txBox="1"/>
          <p:nvPr/>
        </p:nvSpPr>
        <p:spPr>
          <a:xfrm>
            <a:off x="5334000" y="1905000"/>
            <a:ext cx="6096000" cy="571500"/>
          </a:xfrm>
          <a:prstGeom prst="rect">
            <a:avLst/>
          </a:prstGeom>
          <a:noFill/>
        </p:spPr>
        <p:txBody>
          <a:bodyPr wrap="square"/>
          <a:lstStyle/>
          <a:p>
            <a:pPr algn="l"/>
            <a:r>
              <a:rPr b="0" i="0"/>
              <a:t>Data Visualization</a:t>
            </a:r>
          </a:p>
          <a:p>
            <a:pPr algn="l"/>
          </a:p>
        </p:txBody>
      </p:sp>
      <p:sp>
        <p:nvSpPr>
          <p:cNvPr id="17" name="TextBox 16"/>
          <p:cNvSpPr txBox="1"/>
          <p:nvPr/>
        </p:nvSpPr>
        <p:spPr>
          <a:xfrm>
            <a:off x="5334000" y="2952750"/>
            <a:ext cx="5715000" cy="952500"/>
          </a:xfrm>
          <a:prstGeom prst="rect">
            <a:avLst/>
          </a:prstGeom>
          <a:noFill/>
        </p:spPr>
        <p:txBody>
          <a:bodyPr wrap="square"/>
          <a:lstStyle/>
          <a:p>
            <a:pPr algn="l"/>
            <a:r>
              <a:rPr b="0" i="0"/>
              <a:t>Charts that tell the story behind the numbers — from quarterly revenue trends to market share distribution.</a:t>
            </a:r>
          </a:p>
          <a:p>
            <a:pPr algn="l"/>
          </a:p>
        </p:txBody>
      </p:sp>
      <p:sp>
        <p:nvSpPr>
          <p:cNvPr id="18" name="TextBox 17"/>
          <p:cNvSpPr txBox="1"/>
          <p:nvPr/>
        </p:nvSpPr>
        <p:spPr>
          <a:xfrm>
            <a:off x="5334000" y="4191000"/>
            <a:ext cx="5715000" cy="1333500"/>
          </a:xfrm>
          <a:prstGeom prst="rect">
            <a:avLst/>
          </a:prstGeom>
          <a:noFill/>
        </p:spPr>
        <p:txBody>
          <a:bodyPr wrap="square"/>
          <a:lstStyle/>
          <a:p>
            <a:pPr algn="l"/>
            <a:r>
              <a:rPr b="0" i="0"/>
              <a:t>In this section, we explore how data visualization transforms raw numbers into actionable insights. From bar charts showing quarterly growth to pie charts revealing market share, each visual element is designed to communicate clearly and persuasively.</a:t>
            </a:r>
          </a:p>
          <a:p>
            <a:pPr algn="l"/>
          </a:p>
        </p:txBody>
      </p:sp>
      <p:sp>
        <p:nvSpPr>
          <p:cNvPr id="19" name="Rectangle 18"/>
          <p:cNvSpPr/>
          <p:nvPr/>
        </p:nvSpPr>
        <p:spPr>
          <a:xfrm>
            <a:off x="5334000" y="2667000"/>
            <a:ext cx="571500" cy="19050"/>
          </a:xfrm>
          <a:prstGeom prst="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1" dur="indefinite" restart="never" nodeType="tmRoot">
          <p:childTnLst>
            <p:seq concurrent="1" nextAc="seek">
              <p:cTn id="12" dur="indefinite" nodeType="mainSeq">
                <p:childTnLst>
                  <p:par>
                    <p:cTn id="13" fill="hold" nodeType="withEffect">
                      <p:stCondLst>
                        <p:cond delay="0"/>
                      </p:stCondLst>
                      <p:childTnLst>
                        <p:animEffect transition="in" filter="growShrink" dur="800">
                          <p:cBhvr>
                            <p:cTn id="14" dur="800" fill="hold"/>
                            <p:tgtEl>
                              <p:spTgt spid="4"/>
                            </p:tgtEl>
                          </p:cBhvr>
                        </p:animEffect>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0" y="2000250"/>
            <a:ext cx="4191000" cy="1905000"/>
          </a:xfrm>
          <a:prstGeom prst="rect">
            <a:avLst/>
          </a:prstGeom>
          <a:solidFill>
            <a:srgbClr val="1E3221"/>
          </a:solidFill>
          <a:ln w="12700">
            <a:solidFill>
              <a:srgbClr val="D4C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43000" y="5143500"/>
            <a:ext cx="1905000" cy="457200"/>
          </a:xfrm>
          <a:prstGeom prst="round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571500"/>
            <a:ext cx="5715000" cy="285750"/>
          </a:xfrm>
          <a:prstGeom prst="rect">
            <a:avLst/>
          </a:prstGeom>
          <a:noFill/>
        </p:spPr>
        <p:txBody>
          <a:bodyPr wrap="square"/>
          <a:lstStyle/>
          <a:p>
            <a:pPr algn="l"/>
            <a:r>
              <a:rPr b="0" i="0"/>
              <a:t>KEY INSIGHTS</a:t>
            </a:r>
          </a:p>
          <a:p>
            <a:pPr algn="l"/>
          </a:p>
        </p:txBody>
      </p:sp>
      <p:sp>
        <p:nvSpPr>
          <p:cNvPr id="6" name="TextBox 5"/>
          <p:cNvSpPr txBox="1"/>
          <p:nvPr/>
        </p:nvSpPr>
        <p:spPr>
          <a:xfrm>
            <a:off x="1143000" y="1047750"/>
            <a:ext cx="5715000" cy="476250"/>
          </a:xfrm>
          <a:prstGeom prst="rect">
            <a:avLst/>
          </a:prstGeom>
          <a:noFill/>
        </p:spPr>
        <p:txBody>
          <a:bodyPr wrap="square"/>
          <a:lstStyle/>
          <a:p>
            <a:pPr algn="l"/>
            <a:r>
              <a:rPr b="0" i="0"/>
              <a:t>Rich Text &amp; Shape Testing</a:t>
            </a:r>
          </a:p>
          <a:p>
            <a:pPr algn="l"/>
          </a:p>
        </p:txBody>
      </p:sp>
      <p:sp>
        <p:nvSpPr>
          <p:cNvPr id="7" name="TextBox 6"/>
          <p:cNvSpPr txBox="1"/>
          <p:nvPr/>
        </p:nvSpPr>
        <p:spPr>
          <a:xfrm>
            <a:off x="1143000" y="2000250"/>
            <a:ext cx="5143500" cy="2667000"/>
          </a:xfrm>
          <a:prstGeom prst="rect">
            <a:avLst/>
          </a:prstGeom>
          <a:noFill/>
        </p:spPr>
        <p:txBody>
          <a:bodyPr wrap="square"/>
          <a:lstStyle/>
          <a:p>
            <a:pPr algn="l"/>
            <a:r>
              <a:rPr b="0" i="0"/>
              <a:t>This paragraph tests </a:t>
            </a:r>
            <a:r>
              <a:rPr b="1" i="0"/>
              <a:t>bold text</a:t>
            </a:r>
            <a:r>
              <a:rPr b="0" i="0"/>
              <a:t>, </a:t>
            </a:r>
            <a:r>
              <a:rPr b="0" i="1"/>
              <a:t>italic emphasis</a:t>
            </a:r>
            <a:r>
              <a:rPr b="0" i="0"/>
              <a:t>, and </a:t>
            </a:r>
            <a:r>
              <a:rPr b="0" i="0">
                <a:solidFill>
                  <a:srgbClr val="C8524A"/>
                </a:solidFill>
              </a:rPr>
              <a:t>colored inline spans</a:t>
            </a:r>
            <a:r>
              <a:rPr b="0" i="0"/>
              <a:t>.</a:t>
            </a:r>
          </a:p>
          <a:p>
            <a:pPr algn="l"/>
            <a:r>
              <a:rPr b="0" i="0"/>
              <a:t>We also support hyperlinks: </a:t>
            </a:r>
            <a:r>
              <a:rPr b="0" i="0"/>
              <a:t>Click here</a:t>
            </a:r>
          </a:p>
          <a:p>
            <a:pPr algn="l"/>
            <a:r>
              <a:rPr b="0" i="0"/>
              <a:t>Numbered lists work too:</a:t>
            </a:r>
          </a:p>
          <a:p>
            <a:pPr algn="l"/>
          </a:p>
          <a:p>
            <a:pPr algn="l"/>
            <a:r>
              <a:rPr b="0" i="0"/>
              <a:t>  </a:t>
            </a:r>
            <a:r>
              <a:rPr b="0" i="0"/>
              <a:t>First item with </a:t>
            </a:r>
            <a:r>
              <a:rPr b="1" i="0"/>
              <a:t>bold</a:t>
            </a:r>
          </a:p>
          <a:p>
            <a:pPr algn="l"/>
            <a:r>
              <a:rPr b="0" i="0"/>
              <a:t>  </a:t>
            </a:r>
            <a:r>
              <a:rPr b="0" i="0"/>
              <a:t>Second item with </a:t>
            </a:r>
            <a:r>
              <a:rPr b="0" i="1"/>
              <a:t>italic</a:t>
            </a:r>
          </a:p>
          <a:p>
            <a:pPr algn="l"/>
            <a:r>
              <a:rPr b="0" i="0"/>
              <a:t>  </a:t>
            </a:r>
            <a:r>
              <a:rPr b="0" i="0"/>
              <a:t>Third item</a:t>
            </a:r>
          </a:p>
          <a:p>
            <a:pPr algn="l"/>
          </a:p>
          <a:p>
            <a:pPr algn="l"/>
          </a:p>
        </p:txBody>
      </p:sp>
      <p:sp>
        <p:nvSpPr>
          <p:cNvPr id="8" name="TextBox 7"/>
          <p:cNvSpPr txBox="1"/>
          <p:nvPr/>
        </p:nvSpPr>
        <p:spPr>
          <a:xfrm>
            <a:off x="7239000" y="2286000"/>
            <a:ext cx="3429000" cy="285750"/>
          </a:xfrm>
          <a:prstGeom prst="rect">
            <a:avLst/>
          </a:prstGeom>
          <a:noFill/>
        </p:spPr>
        <p:txBody>
          <a:bodyPr wrap="square"/>
          <a:lstStyle/>
          <a:p>
            <a:pPr algn="l"/>
            <a:r>
              <a:rPr b="0" i="0"/>
              <a:t>Card Title</a:t>
            </a:r>
          </a:p>
          <a:p>
            <a:pPr algn="l"/>
          </a:p>
        </p:txBody>
      </p:sp>
      <p:sp>
        <p:nvSpPr>
          <p:cNvPr id="9" name="TextBox 8"/>
          <p:cNvSpPr txBox="1"/>
          <p:nvPr/>
        </p:nvSpPr>
        <p:spPr>
          <a:xfrm>
            <a:off x="7239000" y="2762250"/>
            <a:ext cx="3429000" cy="952500"/>
          </a:xfrm>
          <a:prstGeom prst="rect">
            <a:avLst/>
          </a:prstGeom>
          <a:noFill/>
        </p:spPr>
        <p:txBody>
          <a:bodyPr wrap="square"/>
          <a:lstStyle/>
          <a:p>
            <a:pPr algn="l"/>
            <a:r>
              <a:rPr b="0" i="0"/>
              <a:t>This card tests background fill, border, and shadow rendering in the converter pipeline.</a:t>
            </a:r>
          </a:p>
          <a:p>
            <a:pPr algn="l"/>
          </a:p>
        </p:txBody>
      </p:sp>
      <p:sp>
        <p:nvSpPr>
          <p:cNvPr id="10" name="TextBox 9"/>
          <p:cNvSpPr txBox="1"/>
          <p:nvPr/>
        </p:nvSpPr>
        <p:spPr>
          <a:xfrm>
            <a:off x="1143000" y="5143500"/>
            <a:ext cx="1905000" cy="457200"/>
          </a:xfrm>
          <a:prstGeom prst="rect">
            <a:avLst/>
          </a:prstGeom>
          <a:noFill/>
        </p:spPr>
        <p:txBody>
          <a:bodyPr wrap="square"/>
          <a:lstStyle/>
          <a:p>
            <a:pPr algn="l"/>
            <a:r>
              <a:rPr b="0" i="0">
                <a:solidFill>
                  <a:srgbClr val="E8E4D6"/>
                </a:solidFill>
              </a:rPr>
              <a:t>Call to Action</a:t>
            </a:r>
          </a:p>
          <a:p>
            <a:pPr algn="l"/>
          </a:p>
        </p:txBody>
      </p:sp>
      <p:sp>
        <p:nvSpPr>
          <p:cNvPr id="15" name="Rectangle 14"/>
          <p:cNvSpPr/>
          <p:nvPr/>
        </p:nvSpPr>
        <p:spPr>
          <a:xfrm>
            <a:off x="1143000" y="1714500"/>
            <a:ext cx="4762500" cy="19050"/>
          </a:xfrm>
          <a:prstGeom prst="rect">
            <a:avLst/>
          </a:prstGeom>
          <a:solidFill>
            <a:srgbClr val="D4CFB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5-Point Star 15"/>
          <p:cNvSpPr/>
          <p:nvPr/>
        </p:nvSpPr>
        <p:spPr>
          <a:xfrm rot="900000">
            <a:off x="10477500" y="952500"/>
            <a:ext cx="571500" cy="571500"/>
          </a:xfrm>
          <a:prstGeom prst="star5">
            <a:avLst/>
          </a:prstGeom>
          <a:solidFill>
            <a:srgbClr val="C8524A">
              <a:alpha val="6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1" dur="indefinite" restart="never" nodeType="tmRoot">
          <p:childTnLst>
            <p:seq concurrent="1" nextAc="seek">
              <p:cTn id="12" dur="indefinite" nodeType="mainSeq">
                <p:childTnLst>
                  <p:par>
                    <p:cTn id="13" fill="hold" nodeType="clickEffect">
                      <p:stCondLst>
                        <p:cond delay="indefinite"/>
                      </p:stCondLst>
                      <p:childTnLst>
                        <p:animEffect transition="in" filter="peekIn(down)" dur="400">
                          <p:cBhvr>
                            <p:cTn id="14" dur="400" fill="hold"/>
                            <p:tgtEl>
                              <p:spTgt spid="10"/>
                            </p:tgtEl>
                          </p:cBhvr>
                        </p:animEffect>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0" y="1809750"/>
            <a:ext cx="2857500" cy="1143000"/>
          </a:xfrm>
          <a:prstGeom prst="rect">
            <a:avLst/>
          </a:prstGeom>
          <a:solidFill>
            <a:srgbClr val="1E3221"/>
          </a:solidFill>
          <a:ln w="12700">
            <a:solidFill>
              <a:srgbClr val="D4C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572500" y="3238500"/>
            <a:ext cx="2857500" cy="2571750"/>
          </a:xfrm>
          <a:prstGeom prst="rect">
            <a:avLst/>
          </a:prstGeom>
          <a:solidFill>
            <a:srgbClr val="1E3221"/>
          </a:solidFill>
          <a:ln w="12700">
            <a:solidFill>
              <a:srgbClr val="D4C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571500"/>
            <a:ext cx="5715000" cy="285750"/>
          </a:xfrm>
          <a:prstGeom prst="rect">
            <a:avLst/>
          </a:prstGeom>
          <a:noFill/>
        </p:spPr>
        <p:txBody>
          <a:bodyPr wrap="square"/>
          <a:lstStyle/>
          <a:p>
            <a:pPr algn="l"/>
            <a:r>
              <a:rPr b="0" i="0"/>
              <a:t>QUARTERLY REVENUE</a:t>
            </a:r>
          </a:p>
          <a:p>
            <a:pPr algn="l"/>
          </a:p>
        </p:txBody>
      </p:sp>
      <p:sp>
        <p:nvSpPr>
          <p:cNvPr id="6" name="TextBox 5"/>
          <p:cNvSpPr txBox="1"/>
          <p:nvPr/>
        </p:nvSpPr>
        <p:spPr>
          <a:xfrm>
            <a:off x="1143000" y="1047750"/>
            <a:ext cx="5715000" cy="476250"/>
          </a:xfrm>
          <a:prstGeom prst="rect">
            <a:avLst/>
          </a:prstGeom>
          <a:noFill/>
        </p:spPr>
        <p:txBody>
          <a:bodyPr wrap="square"/>
          <a:lstStyle/>
          <a:p>
            <a:pPr algn="l"/>
            <a:r>
              <a:rPr b="0" i="0"/>
              <a:t>Revenue by Quarter</a:t>
            </a:r>
          </a:p>
          <a:p>
            <a:pPr algn="l"/>
          </a:p>
        </p:txBody>
      </p:sp>
      <p:sp>
        <p:nvSpPr>
          <p:cNvPr id="7" name="Rectangle 6"/>
          <p:cNvSpPr/>
          <p:nvPr/>
        </p:nvSpPr>
        <p:spPr>
          <a:xfrm>
            <a:off x="1143000" y="1809750"/>
            <a:ext cx="6667500" cy="40005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808080"/>
                </a:solidFill>
              </a:rPr>
              <a:t>[Chart: bar]</a:t>
            </a:r>
          </a:p>
        </p:txBody>
      </p:sp>
      <p:sp>
        <p:nvSpPr>
          <p:cNvPr id="15" name="TextBox 14"/>
          <p:cNvSpPr txBox="1"/>
          <p:nvPr/>
        </p:nvSpPr>
        <p:spPr>
          <a:xfrm>
            <a:off x="8763000" y="2000250"/>
            <a:ext cx="2476500" cy="285750"/>
          </a:xfrm>
          <a:prstGeom prst="rect">
            <a:avLst/>
          </a:prstGeom>
          <a:noFill/>
        </p:spPr>
        <p:txBody>
          <a:bodyPr wrap="square"/>
          <a:lstStyle/>
          <a:p>
            <a:pPr algn="l"/>
            <a:r>
              <a:rPr b="0" i="0">
                <a:solidFill>
                  <a:srgbClr val="C8524A"/>
                </a:solidFill>
              </a:rPr>
              <a:t>↑ 47%</a:t>
            </a:r>
            <a:r>
              <a:rPr b="0" i="0"/>
              <a:t> YoY Growth</a:t>
            </a:r>
          </a:p>
          <a:p>
            <a:pPr algn="l"/>
          </a:p>
        </p:txBody>
      </p:sp>
      <p:sp>
        <p:nvSpPr>
          <p:cNvPr id="16" name="TextBox 15"/>
          <p:cNvSpPr txBox="1"/>
          <p:nvPr/>
        </p:nvSpPr>
        <p:spPr>
          <a:xfrm>
            <a:off x="8763000" y="2381250"/>
            <a:ext cx="2476500" cy="381000"/>
          </a:xfrm>
          <a:prstGeom prst="rect">
            <a:avLst/>
          </a:prstGeom>
          <a:noFill/>
        </p:spPr>
        <p:txBody>
          <a:bodyPr wrap="square"/>
          <a:lstStyle/>
          <a:p>
            <a:pPr algn="l"/>
            <a:r>
              <a:rPr b="0" i="0"/>
              <a:t>Total: $1.34M</a:t>
            </a:r>
          </a:p>
          <a:p>
            <a:pPr algn="l"/>
          </a:p>
        </p:txBody>
      </p:sp>
      <p:sp>
        <p:nvSpPr>
          <p:cNvPr id="17" name="Rectangle 16"/>
          <p:cNvSpPr/>
          <p:nvPr/>
        </p:nvSpPr>
        <p:spPr>
          <a:xfrm>
            <a:off x="8763000" y="3429000"/>
            <a:ext cx="2476500" cy="20955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sz="1400">
                <a:solidFill>
                  <a:srgbClr val="808080"/>
                </a:solidFill>
              </a:rPr>
              <a:t>[Chart: pie]</a:t>
            </a:r>
          </a:p>
        </p:txBody>
      </p:sp>
    </p:spTree>
  </p:cSld>
  <p:clrMapOvr>
    <a:masterClrMapping/>
  </p:clrMapOvr>
  <p:timing>
    <p:tnLst>
      <p:par>
        <p:cTn id="11" dur="indefinite" restart="never" nodeType="tmRoot">
          <p:childTnLst>
            <p:seq concurrent="1" nextAc="seek">
              <p:cTn id="12" dur="indefinite" nodeType="mainSeq">
                <p:childTnLst>
                  <p:par>
                    <p:cTn id="13" fill="hold" nodeType="clickEffect">
                      <p:stCondLst>
                        <p:cond delay="indefinite"/>
                      </p:stCondLst>
                      <p:childTnLst>
                        <p:animEffect transition="in" filter="wipe(right)" dur="800">
                          <p:cBhvr>
                            <p:cTn id="14" dur="800" fill="hold"/>
                            <p:tgtEl>
                              <p:spTgt spid="7"/>
                            </p:tgtEl>
                          </p:cBhvr>
                        </p:animEffect>
                      </p:childTnLst>
                    </p:cTn>
                  </p:par>
                  <p:par>
                    <p:cTn id="15" fill="hold" nodeType="afterEffect">
                      <p:stCondLst>
                        <p:cond delay="0"/>
                      </p:stCondLst>
                      <p:childTnLst>
                        <p:animEffect transition="in" filter="fade" dur="600">
                          <p:cBhvr>
                            <p:cTn id="16" dur="600" fill="hold"/>
                            <p:tgtEl>
                              <p:spTgt spid="17"/>
                            </p:tgtEl>
                          </p:cBhvr>
                        </p:animEffect>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571500"/>
            <a:ext cx="5715000" cy="285750"/>
          </a:xfrm>
          <a:prstGeom prst="rect">
            <a:avLst/>
          </a:prstGeom>
          <a:noFill/>
        </p:spPr>
        <p:txBody>
          <a:bodyPr wrap="square"/>
          <a:lstStyle/>
          <a:p>
            <a:pPr algn="l"/>
            <a:r>
              <a:rPr b="0" i="0"/>
              <a:t>PERFORMANCE METRICS</a:t>
            </a:r>
          </a:p>
          <a:p>
            <a:pPr algn="l"/>
          </a:p>
        </p:txBody>
      </p:sp>
      <p:sp>
        <p:nvSpPr>
          <p:cNvPr id="4" name="TextBox 3"/>
          <p:cNvSpPr txBox="1"/>
          <p:nvPr/>
        </p:nvSpPr>
        <p:spPr>
          <a:xfrm>
            <a:off x="1143000" y="1047750"/>
            <a:ext cx="5715000" cy="476250"/>
          </a:xfrm>
          <a:prstGeom prst="rect">
            <a:avLst/>
          </a:prstGeom>
          <a:noFill/>
        </p:spPr>
        <p:txBody>
          <a:bodyPr wrap="square"/>
          <a:lstStyle/>
          <a:p>
            <a:pPr algn="l"/>
            <a:r>
              <a:rPr b="0" i="0"/>
              <a:t>Q1-Q4 Analytics</a:t>
            </a:r>
          </a:p>
          <a:p>
            <a:pPr algn="l"/>
          </a:p>
        </p:txBody>
      </p:sp>
      <p:sp>
        <p:nvSpPr>
          <p:cNvPr id="5" name="TextBox 4"/>
          <p:cNvSpPr txBox="1"/>
          <p:nvPr/>
        </p:nvSpPr>
        <p:spPr>
          <a:xfrm>
            <a:off x="1143000" y="6096000"/>
            <a:ext cx="5715000" cy="285750"/>
          </a:xfrm>
          <a:prstGeom prst="rect">
            <a:avLst/>
          </a:prstGeom>
          <a:noFill/>
        </p:spPr>
        <p:txBody>
          <a:bodyPr wrap="square"/>
          <a:lstStyle/>
          <a:p>
            <a:pPr algn="l"/>
            <a:r>
              <a:rPr b="0" i="0">
                <a:solidFill>
                  <a:srgbClr val="C8524A"/>
                </a:solidFill>
              </a:rPr>
              <a:t>*</a:t>
            </a:r>
            <a:r>
              <a:rPr b="0" i="0"/>
              <a:t> All figures in USD. YoY compares Q4 2025 vs Q4 2024.</a:t>
            </a:r>
          </a:p>
          <a:p>
            <a:pPr algn="l"/>
          </a:p>
        </p:txBody>
      </p:sp>
      <p:sp>
        <p:nvSpPr>
          <p:cNvPr id="6" name="Rectangle 5"/>
          <p:cNvSpPr/>
          <p:nvPr/>
        </p:nvSpPr>
        <p:spPr>
          <a:xfrm>
            <a:off x="1143000" y="5905500"/>
            <a:ext cx="9906000" cy="9525"/>
          </a:xfrm>
          <a:prstGeom prst="rect">
            <a:avLst/>
          </a:prstGeom>
          <a:solidFill>
            <a:srgbClr val="D4CFB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92B1B"/>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2095500"/>
            <a:ext cx="9906000" cy="28575"/>
          </a:xfrm>
          <a:prstGeom prst="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4286250"/>
            <a:ext cx="9906000" cy="1524000"/>
          </a:xfrm>
          <a:prstGeom prst="rect">
            <a:avLst/>
          </a:prstGeom>
          <a:solidFill>
            <a:srgbClr val="1E3221"/>
          </a:solidFill>
          <a:ln w="12700">
            <a:solidFill>
              <a:srgbClr val="D4C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571500"/>
            <a:ext cx="5715000" cy="285750"/>
          </a:xfrm>
          <a:prstGeom prst="rect">
            <a:avLst/>
          </a:prstGeom>
          <a:noFill/>
        </p:spPr>
        <p:txBody>
          <a:bodyPr wrap="square"/>
          <a:lstStyle/>
          <a:p>
            <a:pPr algn="l"/>
            <a:r>
              <a:rPr b="0" i="0"/>
              <a:t>ROADMAP</a:t>
            </a:r>
          </a:p>
          <a:p>
            <a:pPr algn="l"/>
          </a:p>
        </p:txBody>
      </p:sp>
      <p:sp>
        <p:nvSpPr>
          <p:cNvPr id="6" name="TextBox 5"/>
          <p:cNvSpPr txBox="1"/>
          <p:nvPr/>
        </p:nvSpPr>
        <p:spPr>
          <a:xfrm>
            <a:off x="1143000" y="1047750"/>
            <a:ext cx="5715000" cy="476250"/>
          </a:xfrm>
          <a:prstGeom prst="rect">
            <a:avLst/>
          </a:prstGeom>
          <a:noFill/>
        </p:spPr>
        <p:txBody>
          <a:bodyPr wrap="square"/>
          <a:lstStyle/>
          <a:p>
            <a:pPr algn="l"/>
            <a:r>
              <a:rPr b="0" i="0"/>
              <a:t>Project Timeline</a:t>
            </a:r>
          </a:p>
          <a:p>
            <a:pPr algn="l"/>
          </a:p>
        </p:txBody>
      </p:sp>
      <p:sp>
        <p:nvSpPr>
          <p:cNvPr id="7" name="Oval 6"/>
          <p:cNvSpPr/>
          <p:nvPr/>
        </p:nvSpPr>
        <p:spPr>
          <a:xfrm>
            <a:off x="1619250" y="1981199"/>
            <a:ext cx="266700" cy="266700"/>
          </a:xfrm>
          <a:prstGeom prst="ellipse">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476500"/>
            <a:ext cx="1905000" cy="285750"/>
          </a:xfrm>
          <a:prstGeom prst="rect">
            <a:avLst/>
          </a:prstGeom>
          <a:noFill/>
        </p:spPr>
        <p:txBody>
          <a:bodyPr wrap="square"/>
          <a:lstStyle/>
          <a:p>
            <a:pPr algn="l"/>
            <a:r>
              <a:rPr b="0" i="0"/>
              <a:t>Phase 1</a:t>
            </a:r>
          </a:p>
          <a:p>
            <a:pPr algn="l"/>
          </a:p>
        </p:txBody>
      </p:sp>
      <p:sp>
        <p:nvSpPr>
          <p:cNvPr id="9" name="TextBox 8"/>
          <p:cNvSpPr txBox="1"/>
          <p:nvPr/>
        </p:nvSpPr>
        <p:spPr>
          <a:xfrm>
            <a:off x="1143000" y="2857500"/>
            <a:ext cx="1905000" cy="762000"/>
          </a:xfrm>
          <a:prstGeom prst="rect">
            <a:avLst/>
          </a:prstGeom>
          <a:noFill/>
        </p:spPr>
        <p:txBody>
          <a:bodyPr wrap="square"/>
          <a:lstStyle/>
          <a:p>
            <a:pPr algn="l"/>
            <a:r>
              <a:rPr b="0" i="0"/>
              <a:t>Discovery &amp; Research</a:t>
            </a:r>
          </a:p>
          <a:p>
            <a:pPr algn="l"/>
            <a:r>
              <a:rPr b="0" i="0">
                <a:solidFill>
                  <a:srgbClr val="8A8476"/>
                </a:solidFill>
              </a:rPr>
              <a:t>Jan - Mar</a:t>
            </a:r>
          </a:p>
          <a:p>
            <a:pPr algn="l"/>
          </a:p>
        </p:txBody>
      </p:sp>
      <p:sp>
        <p:nvSpPr>
          <p:cNvPr id="10" name="Oval 9"/>
          <p:cNvSpPr/>
          <p:nvPr/>
        </p:nvSpPr>
        <p:spPr>
          <a:xfrm>
            <a:off x="4476750" y="1981199"/>
            <a:ext cx="266700" cy="266700"/>
          </a:xfrm>
          <a:prstGeom prst="ellipse">
            <a:avLst/>
          </a:prstGeom>
          <a:solidFill>
            <a:srgbClr val="243A28"/>
          </a:solidFill>
          <a:ln w="25400">
            <a:solidFill>
              <a:srgbClr val="C85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00500" y="2476500"/>
            <a:ext cx="1905000" cy="285750"/>
          </a:xfrm>
          <a:prstGeom prst="rect">
            <a:avLst/>
          </a:prstGeom>
          <a:noFill/>
        </p:spPr>
        <p:txBody>
          <a:bodyPr wrap="square"/>
          <a:lstStyle/>
          <a:p>
            <a:pPr algn="l"/>
            <a:r>
              <a:rPr b="0" i="0"/>
              <a:t>Phase 2</a:t>
            </a:r>
          </a:p>
          <a:p>
            <a:pPr algn="l"/>
          </a:p>
        </p:txBody>
      </p:sp>
      <p:sp>
        <p:nvSpPr>
          <p:cNvPr id="12" name="TextBox 11"/>
          <p:cNvSpPr txBox="1"/>
          <p:nvPr/>
        </p:nvSpPr>
        <p:spPr>
          <a:xfrm>
            <a:off x="4000500" y="2857500"/>
            <a:ext cx="1905000" cy="762000"/>
          </a:xfrm>
          <a:prstGeom prst="rect">
            <a:avLst/>
          </a:prstGeom>
          <a:noFill/>
        </p:spPr>
        <p:txBody>
          <a:bodyPr wrap="square"/>
          <a:lstStyle/>
          <a:p>
            <a:pPr algn="l"/>
            <a:r>
              <a:rPr b="0" i="0"/>
              <a:t>Design &amp; Prototype</a:t>
            </a:r>
          </a:p>
          <a:p>
            <a:pPr algn="l"/>
            <a:r>
              <a:rPr b="0" i="0">
                <a:solidFill>
                  <a:srgbClr val="8A8476"/>
                </a:solidFill>
              </a:rPr>
              <a:t>Apr - Jun</a:t>
            </a:r>
          </a:p>
          <a:p>
            <a:pPr algn="l"/>
          </a:p>
        </p:txBody>
      </p:sp>
      <p:sp>
        <p:nvSpPr>
          <p:cNvPr id="13" name="Oval 12"/>
          <p:cNvSpPr/>
          <p:nvPr/>
        </p:nvSpPr>
        <p:spPr>
          <a:xfrm>
            <a:off x="7334250" y="1981199"/>
            <a:ext cx="266700" cy="266700"/>
          </a:xfrm>
          <a:prstGeom prst="ellipse">
            <a:avLst/>
          </a:prstGeom>
          <a:solidFill>
            <a:srgbClr val="243A28"/>
          </a:solidFill>
          <a:ln w="25400">
            <a:solidFill>
              <a:srgbClr val="C85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2476500"/>
            <a:ext cx="1905000" cy="285750"/>
          </a:xfrm>
          <a:prstGeom prst="rect">
            <a:avLst/>
          </a:prstGeom>
          <a:noFill/>
        </p:spPr>
        <p:txBody>
          <a:bodyPr wrap="square"/>
          <a:lstStyle/>
          <a:p>
            <a:pPr algn="l"/>
            <a:r>
              <a:rPr b="0" i="0"/>
              <a:t>Phase 3</a:t>
            </a:r>
          </a:p>
          <a:p>
            <a:pPr algn="l"/>
          </a:p>
        </p:txBody>
      </p:sp>
      <p:sp>
        <p:nvSpPr>
          <p:cNvPr id="15" name="TextBox 14"/>
          <p:cNvSpPr txBox="1"/>
          <p:nvPr/>
        </p:nvSpPr>
        <p:spPr>
          <a:xfrm>
            <a:off x="6858000" y="2857500"/>
            <a:ext cx="1905000" cy="762000"/>
          </a:xfrm>
          <a:prstGeom prst="rect">
            <a:avLst/>
          </a:prstGeom>
          <a:noFill/>
        </p:spPr>
        <p:txBody>
          <a:bodyPr wrap="square"/>
          <a:lstStyle/>
          <a:p>
            <a:pPr algn="l"/>
            <a:r>
              <a:rPr b="0" i="0"/>
              <a:t>Development</a:t>
            </a:r>
          </a:p>
          <a:p>
            <a:pPr algn="l"/>
            <a:r>
              <a:rPr b="0" i="0">
                <a:solidFill>
                  <a:srgbClr val="8A8476"/>
                </a:solidFill>
              </a:rPr>
              <a:t>Jul - Sep</a:t>
            </a:r>
          </a:p>
          <a:p>
            <a:pPr algn="l"/>
          </a:p>
        </p:txBody>
      </p:sp>
      <p:sp>
        <p:nvSpPr>
          <p:cNvPr id="16" name="Oval 15"/>
          <p:cNvSpPr/>
          <p:nvPr/>
        </p:nvSpPr>
        <p:spPr>
          <a:xfrm>
            <a:off x="10191750" y="1981199"/>
            <a:ext cx="266700" cy="266700"/>
          </a:xfrm>
          <a:prstGeom prst="ellipse">
            <a:avLst/>
          </a:prstGeom>
          <a:solidFill>
            <a:srgbClr val="243A28"/>
          </a:solidFill>
          <a:ln w="25400">
            <a:solidFill>
              <a:srgbClr val="C85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15500" y="2476500"/>
            <a:ext cx="1905000" cy="285750"/>
          </a:xfrm>
          <a:prstGeom prst="rect">
            <a:avLst/>
          </a:prstGeom>
          <a:noFill/>
        </p:spPr>
        <p:txBody>
          <a:bodyPr wrap="square"/>
          <a:lstStyle/>
          <a:p>
            <a:pPr algn="l"/>
            <a:r>
              <a:rPr b="0" i="0"/>
              <a:t>Phase 4</a:t>
            </a:r>
          </a:p>
          <a:p>
            <a:pPr algn="l"/>
          </a:p>
        </p:txBody>
      </p:sp>
      <p:sp>
        <p:nvSpPr>
          <p:cNvPr id="18" name="TextBox 17"/>
          <p:cNvSpPr txBox="1"/>
          <p:nvPr/>
        </p:nvSpPr>
        <p:spPr>
          <a:xfrm>
            <a:off x="9715500" y="2857500"/>
            <a:ext cx="1905000" cy="762000"/>
          </a:xfrm>
          <a:prstGeom prst="rect">
            <a:avLst/>
          </a:prstGeom>
          <a:noFill/>
        </p:spPr>
        <p:txBody>
          <a:bodyPr wrap="square"/>
          <a:lstStyle/>
          <a:p>
            <a:pPr algn="l"/>
            <a:r>
              <a:rPr b="0" i="0"/>
              <a:t>Launch &amp; Scale</a:t>
            </a:r>
          </a:p>
          <a:p>
            <a:pPr algn="l"/>
            <a:r>
              <a:rPr b="0" i="0">
                <a:solidFill>
                  <a:srgbClr val="8A8476"/>
                </a:solidFill>
              </a:rPr>
              <a:t>Oct - Dec</a:t>
            </a:r>
          </a:p>
          <a:p>
            <a:pPr algn="l"/>
          </a:p>
        </p:txBody>
      </p:sp>
      <p:sp>
        <p:nvSpPr>
          <p:cNvPr id="19" name="TextBox 18"/>
          <p:cNvSpPr txBox="1"/>
          <p:nvPr/>
        </p:nvSpPr>
        <p:spPr>
          <a:xfrm>
            <a:off x="1524000" y="4572000"/>
            <a:ext cx="9144000" cy="1143000"/>
          </a:xfrm>
          <a:prstGeom prst="rect">
            <a:avLst/>
          </a:prstGeom>
          <a:noFill/>
        </p:spPr>
        <p:txBody>
          <a:bodyPr wrap="square"/>
          <a:lstStyle/>
          <a:p>
            <a:pPr algn="l"/>
            <a:r>
              <a:rPr b="1" i="0"/>
              <a:t>Current Status:</a:t>
            </a:r>
            <a:r>
              <a:rPr b="0" i="0"/>
              <a:t> We are in </a:t>
            </a:r>
            <a:r>
              <a:rPr b="0" i="0">
                <a:solidFill>
                  <a:srgbClr val="C8524A"/>
                </a:solidFill>
              </a:rPr>
              <a:t>Phase 2</a:t>
            </a:r>
            <a:r>
              <a:rPr b="0" i="0"/>
              <a:t> — Design &amp; Prototype. The team has completed the initial user research and is now iterating on high-fidelity prototypes for stakeholder review.</a:t>
            </a:r>
          </a:p>
          <a:p>
            <a:pPr algn="l"/>
          </a:p>
        </p:txBody>
      </p:sp>
    </p:spTree>
  </p:cSld>
  <p:clrMapOvr>
    <a:masterClrMapping/>
  </p:clrMapOvr>
  <p:timing>
    <p:tnLst>
      <p:par>
        <p:cTn id="11" dur="indefinite" restart="never" nodeType="tmRoot">
          <p:childTnLst>
            <p:seq concurrent="1" nextAc="seek">
              <p:cTn id="12" dur="indefinite" nodeType="mainSeq">
                <p:childTnLst>
                  <p:par>
                    <p:cTn id="13" fill="hold" nodeType="clickEffect">
                      <p:stCondLst>
                        <p:cond delay="indefinite"/>
                      </p:stCondLst>
                      <p:childTnLst>
                        <p:animEffect transition="in" filter="flyIn(down)" dur="500">
                          <p:cBhvr>
                            <p:cTn id="14" dur="500" fill="hold"/>
                            <p:tgtEl>
                              <p:spTgt spid="19"/>
                            </p:tgtEl>
                          </p:cBhvr>
                        </p:animEffect>
                      </p:childTnLst>
                    </p:cTn>
                  </p:par>
                </p:childTnLst>
              </p:cTn>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E3221"/>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58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858500" y="1143000"/>
            <a:ext cx="571500" cy="571500"/>
          </a:xfrm>
          <a:prstGeom prst="ellipse">
            <a:avLst/>
          </a:prstGeom>
          <a:solidFill>
            <a:srgbClr val="C8524A">
              <a:alpha val="15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1524000"/>
            <a:ext cx="7620000" cy="762000"/>
          </a:xfrm>
          <a:prstGeom prst="rect">
            <a:avLst/>
          </a:prstGeom>
          <a:noFill/>
        </p:spPr>
        <p:txBody>
          <a:bodyPr wrap="square"/>
          <a:lstStyle/>
          <a:p>
            <a:pPr algn="l"/>
            <a:r>
              <a:rPr b="0" i="0"/>
              <a:t>Thank You</a:t>
            </a:r>
          </a:p>
          <a:p>
            <a:pPr algn="l"/>
          </a:p>
        </p:txBody>
      </p:sp>
      <p:sp>
        <p:nvSpPr>
          <p:cNvPr id="6" name="TextBox 5"/>
          <p:cNvSpPr txBox="1"/>
          <p:nvPr/>
        </p:nvSpPr>
        <p:spPr>
          <a:xfrm>
            <a:off x="2286000" y="2762250"/>
            <a:ext cx="7620000" cy="381000"/>
          </a:xfrm>
          <a:prstGeom prst="rect">
            <a:avLst/>
          </a:prstGeom>
          <a:noFill/>
        </p:spPr>
        <p:txBody>
          <a:bodyPr wrap="square"/>
          <a:lstStyle/>
          <a:p>
            <a:pPr algn="l"/>
            <a:r>
              <a:rPr b="0" i="0"/>
              <a:t>Design-driven PPTX conversion pipeline validated successfully.</a:t>
            </a:r>
          </a:p>
          <a:p>
            <a:pPr algn="l"/>
          </a:p>
        </p:txBody>
      </p:sp>
      <p:sp>
        <p:nvSpPr>
          <p:cNvPr id="7" name="TextBox 6"/>
          <p:cNvSpPr txBox="1"/>
          <p:nvPr/>
        </p:nvSpPr>
        <p:spPr>
          <a:xfrm>
            <a:off x="2286000" y="3429000"/>
            <a:ext cx="7620000" cy="762000"/>
          </a:xfrm>
          <a:prstGeom prst="rect">
            <a:avLst/>
          </a:prstGeom>
          <a:noFill/>
        </p:spPr>
        <p:txBody>
          <a:bodyPr wrap="square"/>
          <a:lstStyle/>
          <a:p>
            <a:pPr algn="l"/>
            <a:r>
              <a:rPr b="0" i="0">
                <a:solidFill>
                  <a:srgbClr val="8A8476"/>
                </a:solidFill>
              </a:rPr>
              <a:t>Tests passed: Charts · Tables · Timelines · Shapes · Rich Text · Animations · Shadows · Gradients</a:t>
            </a:r>
          </a:p>
          <a:p>
            <a:pPr algn="l"/>
          </a:p>
        </p:txBody>
      </p:sp>
      <p:sp>
        <p:nvSpPr>
          <p:cNvPr id="8" name="TextBox 7"/>
          <p:cNvSpPr txBox="1"/>
          <p:nvPr/>
        </p:nvSpPr>
        <p:spPr>
          <a:xfrm>
            <a:off x="2286000" y="4381500"/>
            <a:ext cx="7620000" cy="762000"/>
          </a:xfrm>
          <a:prstGeom prst="rect">
            <a:avLst/>
          </a:prstGeom>
          <a:noFill/>
        </p:spPr>
        <p:txBody>
          <a:bodyPr wrap="square"/>
          <a:lstStyle/>
          <a:p>
            <a:pPr algn="l"/>
            <a:r>
              <a:rPr b="0" i="0"/>
              <a:t>Every component from theme resolution to chart rendering has been validated across 8 comprehensive test pages covering all major element types.</a:t>
            </a:r>
          </a:p>
          <a:p>
            <a:pPr algn="l"/>
          </a:p>
        </p:txBody>
      </p:sp>
      <p:sp>
        <p:nvSpPr>
          <p:cNvPr id="9" name="Rectangle 8"/>
          <p:cNvSpPr/>
          <p:nvPr/>
        </p:nvSpPr>
        <p:spPr>
          <a:xfrm>
            <a:off x="5334000" y="2476500"/>
            <a:ext cx="1524000" cy="19050"/>
          </a:xfrm>
          <a:prstGeom prst="rect">
            <a:avLst/>
          </a:prstGeom>
          <a:solidFill>
            <a:srgbClr val="C8524A"/>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rot="20700000">
            <a:off x="1905000" y="5524500"/>
            <a:ext cx="762000" cy="28575"/>
          </a:xfrm>
          <a:prstGeom prst="rect">
            <a:avLst/>
          </a:prstGeom>
          <a:solidFill>
            <a:srgbClr val="D4CFB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1" dur="indefinite" restart="never" nodeType="tmRoot">
          <p:childTnLst>
            <p:seq concurrent="1" nextAc="seek">
              <p:cTn id="12" dur="indefinite" nodeType="mainSeq">
                <p:childTnLst>
                  <p:par>
                    <p:cTn id="13" fill="hold" nodeType="withEffect">
                      <p:stCondLst>
                        <p:cond delay="0"/>
                      </p:stCondLst>
                      <p:childTnLst>
                        <p:animEffect transition="in" filter="fade" dur="1000">
                          <p:cBhvr>
                            <p:cTn id="14" dur="1000" fill="hold"/>
                            <p:tgtEl>
                              <p:spTgt spid="10"/>
                            </p:tgtEl>
                          </p:cBhvr>
                        </p:animEffect>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